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FC72C"/>
                </a:solidFill>
              </a:defRPr>
            </a:pPr>
            <a:r>
              <a:t>BÁO CÁO PHÁT TRIỂN GAME 2D • UNITY &amp; C#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ĐÀO VÀNG CLASSIC</a:t>
            </a:r>
          </a:p>
          <a:p>
            <a:pPr>
              <a:spcAft>
                <a:spcPts val="2800"/>
              </a:spcAft>
              <a:defRPr sz="1400">
                <a:solidFill>
                  <a:srgbClr val="A0AEC0"/>
                </a:solidFill>
              </a:defRPr>
            </a:pPr>
            <a:r>
              <a:t>Tối ưu hóa đa màn hình (Dọc/Ngang), hoàn thiện cơ chế kéo móc vật lý, hệ thống 3 màn chơi thử thách và cạm bẫy Bom nổ kịch tính.</a:t>
            </a:r>
          </a:p>
          <a:p>
            <a:pPr>
              <a:defRPr sz="1100" b="1">
                <a:solidFill>
                  <a:srgbClr val="FFDE73"/>
                </a:solidFill>
              </a:defRPr>
            </a:pPr>
            <a:r>
              <a:t>★ Unity 2022+  |  ★ C# Architecture  |  ★ Responsive Camera  |  ★ 3 Levels &amp; Bomb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38912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645920"/>
            <a:ext cx="1828800" cy="2438400"/>
          </a:xfrm>
          <a:prstGeom prst="rect">
            <a:avLst/>
          </a:prstGeom>
        </p:spPr>
      </p:pic>
      <p:pic>
        <p:nvPicPr>
          <p:cNvPr id="7" name="Picture 6" descr="bi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840480"/>
            <a:ext cx="1280160" cy="1280160"/>
          </a:xfrm>
          <a:prstGeom prst="rect">
            <a:avLst/>
          </a:prstGeom>
        </p:spPr>
      </p:pic>
      <p:pic>
        <p:nvPicPr>
          <p:cNvPr id="8" name="Picture 7" descr="bo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93192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Dự án: DaoVangUnity  •  Thiết kế &amp; Báo cáo Kỹ thuật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TỔNG QUAN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Giới thiệu &amp; Mục tiêu Trò chơi Đào Vàng 2D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914400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C72C"/>
                </a:solidFill>
              </a:defRPr>
            </a:pPr>
            <a:r>
              <a:t>CẢM HỨNG &amp; THỂ LOẠI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Lối chơi Arcade kinh điển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Lấy cảm hứng từ tựa game Gold Miner huyền thoại quen thuộc.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Phát triển trên nền tảng Unity 2D với đồ họa sắc nét, hiện đại.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Trò chơi casual phù hợp cho cả giải trí ngắn và luyện phản xạ căn góc.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8576" y="1783080"/>
            <a:ext cx="914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MỤC TIÊU &amp; LUẬT CHƠI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Đạt điểm Target trước khi hết giờ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Thả móc chuẩn xác để kéo vàng và kim cương có giá trị cao.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Thời gian giới hạn từng màn (45s - 60s), tạo áp lực cuốn hút.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Cạm bẫy đá nặng làm chậm tốc độ và Bom nổ thua ngay lập tức.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1783080"/>
            <a:ext cx="9144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2024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2C55E"/>
                </a:solidFill>
              </a:defRPr>
            </a:pPr>
            <a:r>
              <a:t>CÔNG NGHỆ ÁP DỤNG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Nền tảng kỹ thuật tối ưu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Engine Unity, ngôn ngữ C# cấu trúc module tách biệt.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Hệ thống Physics2D với OverlapCircle bắt va chạm tức thì.</a:t>
            </a:r>
          </a:p>
          <a:p>
            <a:pPr>
              <a:spcAft>
                <a:spcPts val="1000"/>
              </a:spcAft>
              <a:defRPr sz="1200">
                <a:solidFill>
                  <a:srgbClr val="A0AEC0"/>
                </a:solidFill>
              </a:defRPr>
            </a:pPr>
            <a:r>
              <a:t>• Tự động thích ứng cả màn hình Dọc (Portrait) và Ngang (Landscape).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CƠ CHẾ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Vòng đời &amp; Nguyên lý Hoạt động của Móc Câu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11480" cy="41148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C72C"/>
                </a:solidFill>
              </a:defRPr>
            </a:pPr>
            <a:r>
              <a:t>1. ĐU LẮC (SWINGING)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Móc tự động dao động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Móc liên tục đu qua lại quanh trục HookPivot với góc ±60° theo công thức sin wave mượt mà, sẵn sàng chờ lệnh thả.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B82F6"/>
                </a:solidFill>
              </a:defRPr>
            </a:pPr>
            <a:r>
              <a:t>2. THẢ MÓC (EXTENDING)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Phóng móc theo góc nhắm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Người chơi chạm màn hình / click chuột. Móc phóng thẳng xuống đáy với vận tốc cố định (extendSpeed = 9.0).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411480" cy="411480"/>
          </a:xfrm>
          <a:prstGeom prst="roundRect">
            <a:avLst/>
          </a:prstGeom>
          <a:solidFill>
            <a:srgbClr val="FFD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E73"/>
                </a:solidFill>
              </a:defRPr>
            </a:pPr>
            <a:r>
              <a:t>3. CHẠM VẬT (CATCHING)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Bắt va chạm OverlapCircle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Quét vòng tròn quanh đầu móc với bán kính 0.15m trên Item LayerMask, nhận diện tức thì loại vật phẩm trúng phải.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41148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2C55E"/>
                </a:solidFill>
              </a:defRPr>
            </a:pPr>
            <a:r>
              <a:t>4. THU VỀ (RETRACTING)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Tốc độ theo khối lượng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Kéo vật phẩm về gốc. Tốc độ thu tỉ lệ nghịch với khối lượng: V = V_base / Mass * Mod. Vật nặng kéo chậm, vật nhẹ kéo nhanh.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HỆ THỐNG VẬT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Bảng Thông số Cân bằng &amp; Trọng số Xuất hiện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mal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73936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1755648"/>
            <a:ext cx="899129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Vàng Nhỏ (Small Gold)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Điểm số: +50đ    |    Khối lượng: 1.0    |    Tốc độ kéo: Nhanh    |    Tỉ lệ xuất hiện: 35%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g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88336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2670048"/>
            <a:ext cx="899129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Vàng Lớn (Big Gold)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Điểm số: +150đ    |    Khối lượng: 2.2    |    Tốc độ kéo: Chậm    |    Tỉ lệ xuất hiện: 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iam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602736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45920" y="3584448"/>
            <a:ext cx="899129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Kim Cương (Diamond)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Điểm số: +300đ    |    Khối lượng: 1.5    |    Tốc độ kéo: Rất nhanh    |    Tỉ lệ xuất hiện: 10 - 15%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17136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20" y="4498848"/>
            <a:ext cx="899129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Hòn Đá (Rock)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Điểm số: +10đ    |    Khối lượng: 3.0    |    Tốc độ kéo: Rất chậm    |    Tỉ lệ xuất hiện: 20 - 25%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m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431536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45920" y="5413248"/>
            <a:ext cx="899129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BOM (Mới) (Bomb Hazard)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Điểm số: 0đ (THUA)    |    Khối lượng: 1.0    |    Tốc độ kéo: Nổ lập tức    |    Tỉ lệ xuất hiện: 15 - 25%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MÀN CHƠI &amp; CHỌN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Cấu trúc 3 Màn chơi Thử thách &amp; Menu Linh hoạt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C72C"/>
                </a:solidFill>
              </a:defRPr>
            </a:pPr>
            <a:r>
              <a:t>MÀN 1: KHỞI ĐỘNG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Làm quen nhịp độ</a:t>
            </a:r>
          </a:p>
          <a:p>
            <a:pPr>
              <a:spcAft>
                <a:spcPts val="1400"/>
              </a:spcAft>
              <a:defRPr sz="1200" b="1">
                <a:solidFill>
                  <a:srgbClr val="FFDE73"/>
                </a:solidFill>
              </a:defRPr>
            </a:pPr>
            <a:r>
              <a:t>⏱ Thời gian: 60 giây</a:t>
            </a:r>
            <a:br/>
            <a:r>
              <a:t>🎯 Mục tiêu: 300 điểm</a:t>
            </a:r>
            <a:br/>
            <a:r>
              <a:t>💣 Tỉ lệ Bom: 15% (2-3 quả)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Vật phẩm phân bố thưa, dễ kéo.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Mục tiêu điểm số vừa sức.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Luyện phản xạ canh góc móc câu.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MÀN 2: TĂNG TỐC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Áp lực thời gian</a:t>
            </a:r>
          </a:p>
          <a:p>
            <a:pPr>
              <a:spcAft>
                <a:spcPts val="1400"/>
              </a:spcAft>
              <a:defRPr sz="1200" b="1">
                <a:solidFill>
                  <a:srgbClr val="FFDE73"/>
                </a:solidFill>
              </a:defRPr>
            </a:pPr>
            <a:r>
              <a:t>⏱ Thời gian: 50 giây</a:t>
            </a:r>
            <a:br/>
            <a:r>
              <a:t>🎯 Mục tiêu: 900 điểm</a:t>
            </a:r>
            <a:br/>
            <a:r>
              <a:t>💣 Tỉ lệ Bom: 20% (3-4 quả)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Thời gian rút ngắn xuống 50s.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Mục tiêu gấp 3 lần Màn 1.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Đòi hỏi nhắm chuẩn vàng lớn và kim cương.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2880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MÀN 3: ĐỈNH CAO</a:t>
            </a:r>
          </a:p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</a:defRPr>
            </a:pPr>
            <a:r>
              <a:t>Thử thách chuyên gia</a:t>
            </a:r>
          </a:p>
          <a:p>
            <a:pPr>
              <a:spcAft>
                <a:spcPts val="1400"/>
              </a:spcAft>
              <a:defRPr sz="1200" b="1">
                <a:solidFill>
                  <a:srgbClr val="FFDE73"/>
                </a:solidFill>
              </a:defRPr>
            </a:pPr>
            <a:r>
              <a:t>⏱ Thời gian: 45 giây</a:t>
            </a:r>
            <a:br/>
            <a:r>
              <a:t>🎯 Mục tiêu: 1200 điểm</a:t>
            </a:r>
            <a:br/>
            <a:r>
              <a:t>💣 Tỉ lệ Bom: 25% (nhiều bom)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Mật độ bom dày đặc quanh các mỏ vàng.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Chỉ 45s để đạt 1200 điểm cao kỉ lục.</a:t>
            </a:r>
          </a:p>
          <a:p>
            <a:pPr>
              <a:spcAft>
                <a:spcPts val="600"/>
              </a:spcAft>
              <a:defRPr sz="1100">
                <a:solidFill>
                  <a:srgbClr val="A0AEC0"/>
                </a:solidFill>
              </a:defRPr>
            </a:pPr>
            <a:r>
              <a:t>• Một cú kéo sai chạm bom là thua ngay!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TỐI ƯU HIỂN THỊ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Căn chỉnh Main Camera &amp; Đa Màn hình (Dọc / Ngang)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</a:defRPr>
            </a:pPr>
            <a:r>
              <a:t>VẤN ĐỀ TRƯỚC CẢI TIẾN</a:t>
            </a:r>
          </a:p>
          <a:p>
            <a:pPr>
              <a:spcAft>
                <a:spcPts val="1600"/>
              </a:spcAft>
              <a:defRPr sz="1700" b="1">
                <a:solidFill>
                  <a:srgbClr val="FFFFFF"/>
                </a:solidFill>
              </a:defRPr>
            </a:pPr>
            <a:r>
              <a:t>Góc nhìn bị cắt xén &amp; lệch vùng chơi</a:t>
            </a:r>
          </a:p>
          <a:p>
            <a:pPr>
              <a:spcAft>
                <a:spcPts val="1000"/>
              </a:spcAft>
              <a:defRPr sz="1200">
                <a:solidFill>
                  <a:srgbClr val="F87171"/>
                </a:solidFill>
              </a:defRPr>
            </a:pPr>
            <a:r>
              <a:t>✕ Camera ban đầu đặt tại Y = 0 cố định, orthographicSize = 6.</a:t>
            </a:r>
          </a:p>
          <a:p>
            <a:pPr>
              <a:spcAft>
                <a:spcPts val="1000"/>
              </a:spcAft>
              <a:defRPr sz="1200">
                <a:solidFill>
                  <a:srgbClr val="F87171"/>
                </a:solidFill>
              </a:defRPr>
            </a:pPr>
            <a:r>
              <a:t>✕ Vật phẩm sinh sâu tới Y = -10, dẫn đến hơn 40% vật phẩm nằm ngoài đáy màn hình, người chơi không thể nhìn thấy.</a:t>
            </a:r>
          </a:p>
          <a:p>
            <a:pPr>
              <a:spcAft>
                <a:spcPts val="1000"/>
              </a:spcAft>
              <a:defRPr sz="1200">
                <a:solidFill>
                  <a:srgbClr val="F87171"/>
                </a:solidFill>
              </a:defRPr>
            </a:pPr>
            <a:r>
              <a:t>✕ Khoảng trống bên trên thừa thãi, trong khi bên dưới bị che khuất.</a:t>
            </a:r>
          </a:p>
          <a:p>
            <a:pPr>
              <a:spcAft>
                <a:spcPts val="1000"/>
              </a:spcAft>
              <a:defRPr sz="1200">
                <a:solidFill>
                  <a:srgbClr val="F87171"/>
                </a:solidFill>
              </a:defRPr>
            </a:pPr>
            <a:r>
              <a:t>✕ Chuyển sang màn hình dọc (9:16) bị viền đen hoặc mất nội dung hai bên.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1645920"/>
            <a:ext cx="516636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C72C"/>
                </a:solidFill>
              </a:defRPr>
            </a:pPr>
            <a:r>
              <a:t>GIẢI PHÁP VỚI GAMEVIEWADAPTER</a:t>
            </a:r>
          </a:p>
          <a:p>
            <a:pPr>
              <a:spcAft>
                <a:spcPts val="1600"/>
              </a:spcAft>
              <a:defRPr sz="1700" b="1">
                <a:solidFill>
                  <a:srgbClr val="FFFFFF"/>
                </a:solidFill>
              </a:defRPr>
            </a:pPr>
            <a:r>
              <a:t>Tự động căn tâm &amp; thích ứng tỷ lệ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✓ Định vị tâm Camera tối ưu: Y = -1.5f (màn hình ngang) và Y = -0.6f (màn hình dọc).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✓ Thu gọn vùng spawnAreaY từ Y = 0.8f đến Y = -5.8f: 100% vật phẩm luôn nằm trọn trong khung nhìn.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✓ Tự động tính toán orthographicSize theo tỷ lệ khung hình thực tế để chiều rộng luôn &gt;= 9.2f.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✓ Background tự động co giãn theo chế độ Aspect Fill Cover: hoàn toàn không còn viền đen trên mọi độ phân giải.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TÍNH NĂNG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Cơ chế Cạm bẫy Bom Nổ — Kéo Là Thua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92024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10896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C72C"/>
                </a:solidFill>
              </a:defRPr>
            </a:pPr>
            <a:r>
              <a:t>PHÁT HIỆN TỨC THÌ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Nhận diện va chạm Bomb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Khi OverlapCircle của móc chạm Collider của bom, HookController lập tức ngắt trạng thái kéo thường và kích hoạt ExplodeBomb().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plo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192024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8576" y="310896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HIỆU ỨNG NỔ &amp; RUNG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VFX &amp; Camera Shake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Sinh hiệu ứng nổ đa tầng rực lửa, phóng to và mờ dần trong 0.45s; đồng thời camera rung lắc mạnh tạo cảm giác uy lực chân thực.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920240"/>
            <a:ext cx="1005840" cy="1341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2752" y="310896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DE73"/>
                </a:solidFill>
              </a:defRPr>
            </a:pPr>
            <a:r>
              <a:t>GAME OVER TỨC KHẮC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Kết thúc màn chơi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Móc thu tức thì về gốc, dừng đếm giờ và kích hoạt Game Over kèm lý do thua cuộc: 'Bạn đã kéo phải bom! Bị nổ tung!'.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Các Mẫu Thiết Kế Hướng Đối Tượng (Design Patterns)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05740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C72C"/>
                </a:solidFill>
              </a:defRPr>
            </a:pPr>
            <a:r>
              <a:t>SINGLETON PATTERN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GameManager.Instance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Đảm bảo duy nhất 1 điểm điều phối vòng đời toàn bộ game (Menu -&gt; LevelSelect -&gt; Playing -&gt; GameOver/Complete), dễ dàng truy xuất toàn cục an toàn.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1645920"/>
            <a:ext cx="5166360" cy="205740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8135" y="182880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B82F6"/>
                </a:solidFill>
              </a:defRPr>
            </a:pPr>
            <a:r>
              <a:t>OBJECT POOLING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ItemSpawner &amp; ObjectPool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Tái sử dụng các GameObject vật phẩm (vàng, đá, bom) giữa các lượt chơi thay vì Instantiate/Destroy liên tục, loại bỏ hoàn toàn giật lag do Garbage Collection.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166360" cy="205740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DE73"/>
                </a:solidFill>
              </a:defRPr>
            </a:pPr>
            <a:r>
              <a:t>SCRIPTABLE OBJECT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LevelData Asset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Dữ liệu hóa thông số màn chơi (thời gian, mục tiêu điểm, danh sách prefab, tỉ lệ spawn). Cho phép Game Designer chỉnh thông số mà không cần động vào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3977640"/>
            <a:ext cx="5166360" cy="205740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8135" y="4160520"/>
            <a:ext cx="4617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EVENT-DRIVEN UI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Action&lt;T&gt; Decoupling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GameManager và LevelManager phát sự kiện OnScoreChanged, OnTimeChanged. UI subscribe nhận tin mà không phụ thuộc ngược lại vào Gameplay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C72C"/>
                </a:solidFill>
              </a:defRPr>
            </a:pPr>
            <a:r>
              <a:t>TỔNG KẾT &amp;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Kết Quả Đạt Được &amp; Lộ Trình Phát Triển Tiếp Theo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C55E"/>
                </a:solidFill>
              </a:defRPr>
            </a:pPr>
            <a:r>
              <a:t>KẾT QUẢ ĐẠT ĐƯỢC</a:t>
            </a:r>
          </a:p>
          <a:p>
            <a:pPr>
              <a:spcAft>
                <a:spcPts val="1600"/>
              </a:spcAft>
              <a:defRPr sz="1700" b="1">
                <a:solidFill>
                  <a:srgbClr val="FFFFFF"/>
                </a:solidFill>
              </a:defRPr>
            </a:pPr>
            <a:r>
              <a:t>Dự án hoàn thiện &amp; Tối ưu cao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★ Hoàn chỉnh Gameplay Đào Vàng 2D mượt mà, đúng chuẩn vật lý.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★ Camera tự động căn chỉnh trọn vẹn khu vực chơi ở cả màn hình Dọc và Ngang.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★ Tích hợp Bom cạm bẫy với hiệu ứng phát nổ và rung lắc kịch tính.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★ Menu chọn tự do 3 màn chơi thử thách tăng dần độ khó.</a:t>
            </a:r>
          </a:p>
          <a:p>
            <a:pPr>
              <a:spcAft>
                <a:spcPts val="1000"/>
              </a:spcAft>
              <a:defRPr sz="1200">
                <a:solidFill>
                  <a:srgbClr val="BBF7D0"/>
                </a:solidFill>
              </a:defRPr>
            </a:pPr>
            <a:r>
              <a:t>★ Mã nguồn C# sạch sẽ, kiến trúc hướng đối tượng chuẩn mực, 0 lỗi biên dịch.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3815" y="1645920"/>
            <a:ext cx="5166360" cy="4480560"/>
          </a:xfrm>
          <a:prstGeom prst="roundRect">
            <a:avLst/>
          </a:prstGeom>
          <a:solidFill>
            <a:srgbClr val="1B202C"/>
          </a:solidFill>
          <a:ln w="1905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874519"/>
            <a:ext cx="4709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FC72C"/>
                </a:solidFill>
              </a:defRPr>
            </a:pPr>
            <a:r>
              <a:t>LỘ TRÌNH MỞ RỘNG (ROADMAP)</a:t>
            </a:r>
          </a:p>
          <a:p>
            <a:pPr>
              <a:spcAft>
                <a:spcPts val="1600"/>
              </a:spcAft>
              <a:defRPr sz="1700" b="1">
                <a:solidFill>
                  <a:srgbClr val="FFFFFF"/>
                </a:solidFill>
              </a:defRPr>
            </a:pPr>
            <a:r>
              <a:t>Các tính năng tiềm năng tiếp theo</a:t>
            </a:r>
          </a:p>
          <a:p>
            <a:pPr>
              <a:spcAft>
                <a:spcPts val="1000"/>
              </a:spcAft>
              <a:defRPr sz="1200">
                <a:solidFill>
                  <a:srgbClr val="FFDE73"/>
                </a:solidFill>
              </a:defRPr>
            </a:pPr>
            <a:r>
              <a:t>→ Cửa hàng vật phẩm giữa các màn (Thuốc nổ Dynamite phá đá, Nước tăng lực kéo nhanh, Cỏ may mắn tăng giá trị kim cương).</a:t>
            </a:r>
          </a:p>
          <a:p>
            <a:pPr>
              <a:spcAft>
                <a:spcPts val="1000"/>
              </a:spcAft>
              <a:defRPr sz="1200">
                <a:solidFill>
                  <a:srgbClr val="FFDE73"/>
                </a:solidFill>
              </a:defRPr>
            </a:pPr>
            <a:r>
              <a:t>→ Sinh vật di chuyển ngầm (Chuột cõng kim cương chạy ngang màn hình).</a:t>
            </a:r>
          </a:p>
          <a:p>
            <a:pPr>
              <a:spcAft>
                <a:spcPts val="1000"/>
              </a:spcAft>
              <a:defRPr sz="1200">
                <a:solidFill>
                  <a:srgbClr val="FFDE73"/>
                </a:solidFill>
              </a:defRPr>
            </a:pPr>
            <a:r>
              <a:t>→ Hệ thống nhiệm vụ thành tựu &amp; Bảng xếp hạng điểm số trực tuyến (Leaderboard).</a:t>
            </a:r>
          </a:p>
          <a:p>
            <a:pPr>
              <a:spcAft>
                <a:spcPts val="1000"/>
              </a:spcAft>
              <a:defRPr sz="1200">
                <a:solidFill>
                  <a:srgbClr val="FFDE73"/>
                </a:solidFill>
              </a:defRPr>
            </a:pPr>
            <a:r>
              <a:t>→ Bộ âm thanh sống động (tiếng động cơ tời, tiếng nổ boom, nhạc nền vui nhộn).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